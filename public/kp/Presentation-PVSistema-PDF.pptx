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7" r:id="rId18"/>
    <p:sldId id="260" r:id="rId11"/>
    <p:sldId id="261" r:id="rId12"/>
    <p:sldId id="268" r:id="rId19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5.xml"/><Relationship Id="rId19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РОССИЙСКОЕ НАСТОЛЬНОЕ ПО · WINDOWS 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spc="160">
                <a:solidFill>
                  <a:srgbClr val="F7F5EF"/>
                </a:solidFill>
                <a:latin typeface="Arial"/>
              </a:rPr>
              <a:t>ПВ-СИСТЕМА 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92608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D8D5CC"/>
                </a:solidFill>
                <a:latin typeface="Arial"/>
              </a:rPr>
              <a:t>Просмотр, редактирование и конвертация документов PDF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D8D5CC"/>
                </a:solidFill>
                <a:latin typeface="Arial"/>
              </a:rPr>
              <a:t>на рабочем месте — без передачи файлов в интернет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60">
                <a:solidFill>
                  <a:srgbClr val="606662"/>
                </a:solidFill>
                <a:latin typeface="Arial"/>
              </a:rPr>
              <a:t>АНО ДПО «УЧЕБНЫЙ ЦЕНТР ГОРГАЗНЕФТЬ»   ·   ПВСИСТЕМА.РФ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ПРЕЗЕНТАЦИЯ ПРОДУКТА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spc="160">
                <a:solidFill>
                  <a:srgbClr val="14181C"/>
                </a:solidFill>
                <a:latin typeface="Arial"/>
              </a:rPr>
              <a:t>ДОКУМЕНТЫ УХОДЯТ</a:t>
            </a:r>
          </a:p>
          <a:p>
            <a:pPr algn="l">
              <a:lnSpc>
                <a:spcPct val="102000"/>
              </a:lnSpc>
            </a:pPr>
            <a:r>
              <a:rPr sz="4000" b="1" spc="160">
                <a:solidFill>
                  <a:srgbClr val="14181C"/>
                </a:solidFill>
                <a:latin typeface="Arial"/>
              </a:rPr>
              <a:t>НА ЧУЖИЕ СЕРВЕРЫ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9748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Бесплатные онлайн-сервисы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Файл загружается на сторонний сервер — контроль над ним теряется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30168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0168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Зарубежные подписки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Ежемесячная оплата в валюте, риск отключения доступа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7376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Сведения ограниченного доступа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Персональные данные и реквизиты не должны покидать предприятие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44584" y="3200400"/>
            <a:ext cx="2606040" cy="228600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44584" y="3200400"/>
            <a:ext cx="260604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84448"/>
            <a:ext cx="20939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C"/>
                </a:solidFill>
                <a:latin typeface="Arial"/>
              </a:rPr>
              <a:t>Разрозненные инструменты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0616" y="4343400"/>
            <a:ext cx="20939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Отдельная программа на просмотр, на конвертацию, на распознавание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ВСЁ, ЧТО НУЖНО ДЛЯ РАБОТЫ</a:t>
            </a:r>
          </a:p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С PDF — В ОДНОЙ ПРОГРАММЕ</a:t>
            </a:r>
          </a:p>
          <a:p>
            <a:pPr algn="l">
              <a:lnSpc>
                <a:spcPct val="108000"/>
              </a:lnSpc>
            </a:pPr>
            <a:r>
              <a:rPr sz="4200" b="1" spc="160">
                <a:solidFill>
                  <a:srgbClr val="F7F5EF"/>
                </a:solidFill>
                <a:latin typeface="Arial"/>
              </a:rPr>
              <a:t>НА ВАШЕМ КОМПЬЮТЕРЕ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77639"/>
            <a:ext cx="2194560" cy="381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C9C6BE"/>
                </a:solidFill>
                <a:latin typeface="Arial"/>
              </a:rPr>
              <a:t>Файлы обрабатываются локально и никуда не передаются. Интернет нужен только для проверки обновлений — программа полноценно работает и без него.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ЧТО УМЕЕТ ПРОГРАММА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ПРОСМОТР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Непрерывная прокрутка и вкладки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Разворот — две страницы рядом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Подгонка по ширине и по странице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Панель миниатюр страниц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Поиск по всему документу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РЕДАКТИРОВАНИЕ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9432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99432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Поворот, удаление, перестановка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9432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Дублирование и вставка листов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55464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Объединение и извлечение страниц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9432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5464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Надписи и закрашивание данных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9432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Отмена — до 50 шагов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КОНВЕРТАЦИЯ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75904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75904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1936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Word и Excel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75904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JPG, PNG и HTML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75904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1936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Из фото и сканов — в PDF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5904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31936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В обычный текст TXT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75904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31936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Распознавание сканов (OCR)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СКАНИРОВАНИЕ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ОТ БУМАГИ</a:t>
            </a:r>
          </a:p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ДО ГОТОВОГО 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СКАНИРОВАНИЕ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Сканирование прямо в программе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Пакетная съёмка пачки листов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Повтор с теми же настройками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Скан сразу в открытый документ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Улучшение читаемости скана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РАБОТА С ФАЙЛОМ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9432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99432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Сжатие — три уровня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9432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Извлечение нужных страниц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55464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Добавление чистых листов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9432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5464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Печать с предпросмотром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9432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Копирование текста страницы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251460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spc="160">
                <a:solidFill>
                  <a:srgbClr val="14181C"/>
                </a:solidFill>
                <a:latin typeface="Arial"/>
              </a:rPr>
              <a:t>СОЗДАНИЕ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75904" y="3017520"/>
            <a:ext cx="352044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75904" y="345948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1936" y="33832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Из фотографий JPG и PNG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75904" y="402640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3950208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Из снимков HEIC с iPhone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75904" y="4593336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1936" y="4517136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Из текстовых файлов TXT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5904" y="516026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31936" y="508406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Из сканов TIFF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75904" y="572719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31936" y="565099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4181C"/>
                </a:solidFill>
                <a:latin typeface="Arial"/>
              </a:rPr>
              <a:t>Из нескольких PDF сразу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ИНТЕРФЕЙС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ПРИВЫЧНО С ПЕРВОГО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ЗАПУСКА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182880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093720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017520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Полностью на русском языке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97224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621024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Вкладки — как в браузере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00728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224528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Обучение сотрудника — меньше часа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04232"/>
            <a:ext cx="88900" cy="889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828032"/>
            <a:ext cx="35661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Горячие клавиши как в привычных программах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68112" y="1307592"/>
            <a:ext cx="6035040" cy="3310128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34440"/>
            <a:ext cx="6035040" cy="326323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394960" y="1234440"/>
            <a:ext cx="6035040" cy="3264408"/>
          </a:xfrm>
          <a:prstGeom prst="rect">
            <a:avLst/>
          </a:prstGeom>
          <a:noFill/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47091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РАБОЧЕЕ ОКНО ПРОГРАММЫ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ДОКУМЕНТ</a:t>
            </a:r>
          </a:p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НЕ ПОКИДАЕТ ПЕРИМЕТР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017520"/>
            <a:ext cx="2194560" cy="381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Локальная обработка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Файл открывается и обрабатывается на компьютере пользователя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712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Закрашивание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Персональные данные и реквизиты скрываются перед передачей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84464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Работа без интернета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В том числе на удалённых и подземных объектах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УПРАВЛЕНИЕ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ПАРК РАБОЧИХ МЕСТ</a:t>
            </a:r>
          </a:p>
          <a:p>
            <a:pPr algn="l">
              <a:lnSpc>
                <a:spcPct val="106000"/>
              </a:lnSpc>
            </a:pPr>
            <a:r>
              <a:rPr sz="4000" b="1" spc="160">
                <a:solidFill>
                  <a:srgbClr val="F7F5EF"/>
                </a:solidFill>
                <a:latin typeface="Arial"/>
              </a:rPr>
              <a:t>ПОД КОНТРОЛЕМ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017520"/>
            <a:ext cx="2194560" cy="381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Учёт рабочих мест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Видно, на каких компьютерах работает лицензия и сколько мест занято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712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Обязательная версия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Устаревшие версии останавливаются до обновления — по решению администратора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3566160"/>
            <a:ext cx="3474720" cy="1920240"/>
          </a:xfrm>
          <a:prstGeom prst="rect">
            <a:avLst/>
          </a:prstGeom>
          <a:solidFill>
            <a:srgbClr val="1E2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84464" y="3566160"/>
            <a:ext cx="50800" cy="192024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391363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7F5EF"/>
                </a:solidFill>
                <a:latin typeface="Arial"/>
              </a:rPr>
              <a:t>Обновление в щелчок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45262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Программа ставит его сама, файлы и настройки остаются на месте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ПОЧЕМУ 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ШЕСТЬ ПРИЧИН ВЫБРАТЬ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ПВ-СИСТЕМУ 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231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Безопасность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Обработка на рабочем месте, без передачи файлов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99432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55464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Импортозамещение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Отечественное ПО без зарубежных подписок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75904" y="2926080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6" y="312724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3493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Экономия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89534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Дешевле зарубежных аналогов с помесячной оплатой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Простота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Русский интерфейс, обучение меньше часа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9432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Автономность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Работает без постоянного подключения к сети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75904" y="4727448"/>
            <a:ext cx="3520440" cy="1600200"/>
          </a:xfrm>
          <a:prstGeom prst="rect">
            <a:avLst/>
          </a:prstGeom>
          <a:noFill/>
          <a:ln w="12700">
            <a:solidFill>
              <a:srgbClr val="CFCB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1936" y="492861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C5FD9"/>
                </a:solidFill>
                <a:latin typeface="Arial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5294376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4181C"/>
                </a:solidFill>
                <a:latin typeface="Arial"/>
              </a:rPr>
              <a:t>Развитие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69671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Обновления входят в стоимость лицензии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СТОИМОСТЬ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ГОДОВАЯ ЛИЦЕНЗИЯ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6766560" cy="493776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606040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РАБОЧИХ МЕСТ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94176" y="260604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ЦЕНА ЗА 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260604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spc="160">
                <a:solidFill>
                  <a:srgbClr val="F7F5EF"/>
                </a:solidFill>
                <a:latin typeface="Arial"/>
              </a:rPr>
              <a:t>СТОИМОСТЬ В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09981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3099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12 000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7296" y="3099816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12 000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456432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3593592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59359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9 600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3593592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48 000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087368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408736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8 500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7296" y="4087368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85 000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443984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581144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458114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7 600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4581144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190 000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5074920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50749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6 800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507492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340 000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31536"/>
            <a:ext cx="6766560" cy="493776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556869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Без ограничения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94176" y="556869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4181C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296" y="5568696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4181C"/>
                </a:solidFill>
                <a:latin typeface="Arial"/>
              </a:rPr>
              <a:t>560 000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2468880"/>
            <a:ext cx="6766560" cy="3456432"/>
          </a:xfrm>
          <a:prstGeom prst="rect">
            <a:avLst/>
          </a:prstGeom>
          <a:noFill/>
          <a:ln w="15875">
            <a:solidFill>
              <a:srgbClr val="14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79" y="2468880"/>
            <a:ext cx="3383280" cy="32004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28163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60">
                <a:solidFill>
                  <a:srgbClr val="FFFFFF"/>
                </a:solidFill>
                <a:latin typeface="Arial"/>
              </a:rPr>
              <a:t>В СТОИМОСТЬ ВХОДИТ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3505200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22207" y="3429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Установка и настройка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3980688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22207" y="3904488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Обучение персонала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19" y="4456176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2207" y="437997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Техническая поддержка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19" y="4931664"/>
            <a:ext cx="88900" cy="8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2207" y="485546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FFFFFF"/>
                </a:solidFill>
                <a:latin typeface="Arial"/>
              </a:rPr>
              <a:t>Все обновления года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870448"/>
            <a:ext cx="3383280" cy="777240"/>
          </a:xfrm>
          <a:prstGeom prst="rect">
            <a:avLst/>
          </a:prstGeom>
          <a:solidFill>
            <a:srgbClr val="EBE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607161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3393"/>
                </a:solidFill>
                <a:latin typeface="Arial"/>
              </a:rPr>
              <a:t>До 01.07.2026 — скидка 10 %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8978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06662"/>
                </a:solidFill>
                <a:latin typeface="Arial"/>
              </a:rPr>
              <a:t>Цены в рублях за год. Без НДС (п. 26 ч. 2 ст. 149 НК РФ). Лицензия корпоративная, срок — 1 год.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СРАВНЕНИЕ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5943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ЦЕНА ЗА ОДНО</a:t>
            </a:r>
          </a:p>
          <a:p>
            <a:pPr algn="l">
              <a:lnSpc>
                <a:spcPct val="102000"/>
              </a:lnSpc>
            </a:pPr>
            <a:r>
              <a:rPr sz="3400" b="1" spc="160">
                <a:solidFill>
                  <a:srgbClr val="14181C"/>
                </a:solidFill>
                <a:latin typeface="Arial"/>
              </a:rPr>
              <a:t>РАБОЧЕЕ МЕСТО В ГОД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51460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91840"/>
            <a:ext cx="2103120" cy="1965960"/>
          </a:xfrm>
          <a:prstGeom prst="rect">
            <a:avLst/>
          </a:prstGeom>
          <a:solidFill>
            <a:srgbClr val="D3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1635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606662"/>
                </a:solidFill>
                <a:latin typeface="Arial"/>
              </a:rPr>
              <a:t>≈ 20 000 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Adobe Acrobat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Подписка в валюте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3340989"/>
            <a:ext cx="2103120" cy="1916811"/>
          </a:xfrm>
          <a:prstGeom prst="rect">
            <a:avLst/>
          </a:prstGeom>
          <a:solidFill>
            <a:srgbClr val="D3C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2865501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606662"/>
                </a:solidFill>
                <a:latin typeface="Arial"/>
              </a:rPr>
              <a:t>≈ 19 500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Foxit PDF Editor Pro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Лицензия через реселлера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4078224"/>
            <a:ext cx="2103120" cy="1179576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3056" y="360273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C5FD9"/>
                </a:solidFill>
                <a:latin typeface="Arial"/>
              </a:rPr>
              <a:t>12 000 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3056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ПВ-Система 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6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Одно рабочее место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3104" y="4589374"/>
            <a:ext cx="2103120" cy="668426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3104" y="411388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1C5FD9"/>
                </a:solidFill>
                <a:latin typeface="Arial"/>
              </a:rPr>
              <a:t>6 800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3104" y="5385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4181C"/>
                </a:solidFill>
                <a:latin typeface="Arial"/>
              </a:rPr>
              <a:t>ПВ-Система 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3104" y="5733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06662"/>
                </a:solidFill>
                <a:latin typeface="Arial"/>
              </a:rPr>
              <a:t>При 50 рабочих местах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57800"/>
            <a:ext cx="10113264" cy="1905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051560"/>
            <a:ext cx="3200400" cy="169164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29844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spc="160">
                <a:solidFill>
                  <a:srgbClr val="9AD4E8"/>
                </a:solidFill>
                <a:latin typeface="Arial"/>
              </a:rPr>
              <a:t>ВЫГОДА ДО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1664208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7F5EF"/>
                </a:solidFill>
                <a:latin typeface="Arial"/>
              </a:rPr>
              <a:t>×3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221284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B6B3AC"/>
                </a:solidFill>
                <a:latin typeface="Arial"/>
              </a:rPr>
              <a:t>дешевле при 50 местах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6188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Цены зарубежных продуктов ориентировочные, по открытым данным. Подписки оплачиваются в валюте.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КАК НАЧАТЬ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ЧЕТЫРЕ ШАГА ДО</a:t>
            </a:r>
          </a:p>
          <a:p>
            <a:pPr algn="l">
              <a:lnSpc>
                <a:spcPct val="102000"/>
              </a:lnSpc>
            </a:pPr>
            <a:r>
              <a:rPr sz="3600" b="1" spc="160">
                <a:solidFill>
                  <a:srgbClr val="14181C"/>
                </a:solidFill>
                <a:latin typeface="Arial"/>
              </a:rPr>
              <a:t>РАБОЧИХ МЕСТ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2194560" cy="381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ЗАЯВКА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Обсуждаем количество мест и получаете демоверсию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0168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ДОГОВОР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Подписываем и выставляем счёт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7376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ПЕРЕДАЧА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Ключ активации — 3 рабочих дня после оплаты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31546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C9C5B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44584" y="3867912"/>
            <a:ext cx="2423160" cy="254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4584" y="40690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spc="160">
                <a:solidFill>
                  <a:srgbClr val="14181C"/>
                </a:solidFill>
                <a:latin typeface="Arial"/>
              </a:rPr>
              <a:t>ЗАПУСК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452628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06662"/>
                </a:solidFill>
                <a:latin typeface="Arial"/>
              </a:rPr>
              <a:t>Установка, настройка и обучение сотрудников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spc="160">
                <a:solidFill>
                  <a:srgbClr val="606662"/>
                </a:solidFill>
                <a:latin typeface="Arial"/>
              </a:rPr>
              <a:t>ПВ-СИСТЕМА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2910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0666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31000"/>
            <a:ext cx="12191695" cy="1270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9AD4E8"/>
                </a:solidFill>
                <a:latin typeface="Arial"/>
              </a:rPr>
              <a:t>КОНТАКТЫ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spc="160">
                <a:solidFill>
                  <a:srgbClr val="F7F5EF"/>
                </a:solidFill>
                <a:latin typeface="Arial"/>
              </a:rPr>
              <a:t>ЗАПРОСИТЕ</a:t>
            </a:r>
          </a:p>
          <a:p>
            <a:pPr algn="l">
              <a:lnSpc>
                <a:spcPct val="105000"/>
              </a:lnSpc>
            </a:pPr>
            <a:r>
              <a:rPr sz="5200" b="1" spc="160">
                <a:solidFill>
                  <a:srgbClr val="F7F5EF"/>
                </a:solidFill>
                <a:latin typeface="Arial"/>
              </a:rPr>
              <a:t>ДЕМОВЕРСИЮ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2194560" cy="50800"/>
          </a:xfrm>
          <a:prstGeom prst="rect">
            <a:avLst/>
          </a:prstGeom>
          <a:solidFill>
            <a:srgbClr val="1C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ТЕЛЕФОН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+7 (905) 005-36-19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+7 (933) 044-70-17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ЭЛЕКТРОННАЯ ПОЧТА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pvsistema@mail.ru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4464" y="39776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spc="160">
                <a:solidFill>
                  <a:srgbClr val="606662"/>
                </a:solidFill>
                <a:latin typeface="Arial"/>
              </a:rPr>
              <a:t>САЙТ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4389119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7F5EF"/>
                </a:solidFill>
                <a:latin typeface="Arial"/>
              </a:rPr>
              <a:t>пвсистема.рф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06662"/>
                </a:solidFill>
                <a:latin typeface="Arial"/>
              </a:rPr>
              <a:t>АНО ДПО «Учебный центр ГорГазНефть» · г. Сибай, ул. Куйбышева, д. 20, офис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