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7" r:id="rId18"/>
    <p:sldId id="260" r:id="rId11"/>
    <p:sldId id="261" r:id="rId12"/>
    <p:sldId id="268" r:id="rId19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5.xml"/><Relationship Id="rId1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9AD4E8"/>
                </a:solidFill>
                <a:latin typeface="Arial"/>
              </a:rPr>
              <a:t>РОССИЙСКОЕ НАСТОЛЬНОЕ ПО · WINDOWS 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spc="160">
                <a:solidFill>
                  <a:srgbClr val="F7F5EF"/>
                </a:solidFill>
                <a:latin typeface="Arial"/>
              </a:rPr>
              <a:t>ПВ-СИСТЕМА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2926080" cy="508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D8D5CC"/>
                </a:solidFill>
                <a:latin typeface="Arial"/>
              </a:rPr>
              <a:t>Просмотр, редактирование и конвертация документов PDF</a:t>
            </a:r>
          </a:p>
          <a:p>
            <a:pPr algn="l">
              <a:lnSpc>
                <a:spcPct val="135000"/>
              </a:lnSpc>
            </a:pPr>
            <a:r>
              <a:rPr sz="2000" b="0">
                <a:solidFill>
                  <a:srgbClr val="D8D5CC"/>
                </a:solidFill>
                <a:latin typeface="Arial"/>
              </a:rPr>
              <a:t>на рабочем месте — без передачи файлов в интернет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spc="160">
                <a:solidFill>
                  <a:srgbClr val="606662"/>
                </a:solidFill>
                <a:latin typeface="Arial"/>
              </a:rPr>
              <a:t>АНО ДПО «УЧЕБНЫЙ ЦЕНТР ГОРГАЗНЕФТЬ»   ·   ПВСИСТЕМА.РФ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ПРЕЗЕНТАЦИЯ ПРОДУКТА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spc="160">
                <a:solidFill>
                  <a:srgbClr val="14181C"/>
                </a:solidFill>
                <a:latin typeface="Arial"/>
              </a:rPr>
              <a:t>ДОКУМЕНТЫ УХОДЯТ</a:t>
            </a:r>
          </a:p>
          <a:p>
            <a:pPr algn="l">
              <a:lnSpc>
                <a:spcPct val="102000"/>
              </a:lnSpc>
            </a:pPr>
            <a:r>
              <a:rPr sz="4000" b="1" spc="160">
                <a:solidFill>
                  <a:srgbClr val="14181C"/>
                </a:solidFill>
                <a:latin typeface="Arial"/>
              </a:rPr>
              <a:t>НА ЧУЖИЕ СЕРВЕРЫ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97480"/>
            <a:ext cx="219456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2606040" cy="2286000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200400"/>
            <a:ext cx="2606040" cy="508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584448"/>
            <a:ext cx="209397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C"/>
                </a:solidFill>
                <a:latin typeface="Arial"/>
              </a:rPr>
              <a:t>Бесплатные онлайн-сервисы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343400"/>
            <a:ext cx="20939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06662"/>
                </a:solidFill>
                <a:latin typeface="Arial"/>
              </a:rPr>
              <a:t>Файл загружается на сторонний сервер — контроль над ним теряется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0168" y="3200400"/>
            <a:ext cx="2606040" cy="2286000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30168" y="3200400"/>
            <a:ext cx="2606040" cy="508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3584448"/>
            <a:ext cx="209397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C"/>
                </a:solidFill>
                <a:latin typeface="Arial"/>
              </a:rPr>
              <a:t>Зарубежные подписки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343400"/>
            <a:ext cx="20939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06662"/>
                </a:solidFill>
                <a:latin typeface="Arial"/>
              </a:rPr>
              <a:t>Ежемесячная оплата в валюте, риск отключения доступа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37376" y="3200400"/>
            <a:ext cx="2606040" cy="2286000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7376" y="3200400"/>
            <a:ext cx="2606040" cy="508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3584448"/>
            <a:ext cx="209397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C"/>
                </a:solidFill>
                <a:latin typeface="Arial"/>
              </a:rPr>
              <a:t>Сведения ограниченного доступа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4343400"/>
            <a:ext cx="20939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06662"/>
                </a:solidFill>
                <a:latin typeface="Arial"/>
              </a:rPr>
              <a:t>Персональные данные и реквизиты не должны покидать предприятие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44584" y="3200400"/>
            <a:ext cx="2606040" cy="2286000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44584" y="3200400"/>
            <a:ext cx="2606040" cy="508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0616" y="3584448"/>
            <a:ext cx="209397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C"/>
                </a:solidFill>
                <a:latin typeface="Arial"/>
              </a:rPr>
              <a:t>Разрозненные инструменты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0616" y="4343400"/>
            <a:ext cx="20939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06662"/>
                </a:solidFill>
                <a:latin typeface="Arial"/>
              </a:rPr>
              <a:t>Отдельная программа на просмотр, на конвертацию, на распознавание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9AD4E8"/>
                </a:solidFill>
                <a:latin typeface="Arial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 spc="160">
                <a:solidFill>
                  <a:srgbClr val="F7F5EF"/>
                </a:solidFill>
                <a:latin typeface="Arial"/>
              </a:rPr>
              <a:t>ВСЁ, ЧТО НУЖНО ДЛЯ РАБОТЫ</a:t>
            </a:r>
          </a:p>
          <a:p>
            <a:pPr algn="l">
              <a:lnSpc>
                <a:spcPct val="108000"/>
              </a:lnSpc>
            </a:pPr>
            <a:r>
              <a:rPr sz="4200" b="1" spc="160">
                <a:solidFill>
                  <a:srgbClr val="F7F5EF"/>
                </a:solidFill>
                <a:latin typeface="Arial"/>
              </a:rPr>
              <a:t>С PDF — В ОДНОЙ ПРОГРАММЕ</a:t>
            </a:r>
          </a:p>
          <a:p>
            <a:pPr algn="l">
              <a:lnSpc>
                <a:spcPct val="108000"/>
              </a:lnSpc>
            </a:pPr>
            <a:r>
              <a:rPr sz="4200" b="1" spc="160">
                <a:solidFill>
                  <a:srgbClr val="F7F5EF"/>
                </a:solidFill>
                <a:latin typeface="Arial"/>
              </a:rPr>
              <a:t>НА ВАШЕМ КОМПЬЮТЕРЕ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77639"/>
            <a:ext cx="2194560" cy="381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C9C6BE"/>
                </a:solidFill>
                <a:latin typeface="Arial"/>
              </a:rPr>
              <a:t>Файлы обрабатываются локально и никуда не передаются. Интернет нужен только для проверки обновлений — программа полноценно работает и без него.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spc="160">
                <a:solidFill>
                  <a:srgbClr val="14181C"/>
                </a:solidFill>
                <a:latin typeface="Arial"/>
              </a:rPr>
              <a:t>ЧТО УМЕЕТ ПРОГРАММА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219456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160">
                <a:solidFill>
                  <a:srgbClr val="14181C"/>
                </a:solidFill>
                <a:latin typeface="Arial"/>
              </a:rPr>
              <a:t>ПРОСМОТР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352044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45948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383280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Непрерывная прокрутка и вкладки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2640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950208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Разворот — две страницы рядом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93336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517136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Подгонка по ширине и по странице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6026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084064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Панель миниатюр страниц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72719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65099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Поиск по всему документу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51460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160">
                <a:solidFill>
                  <a:srgbClr val="14181C"/>
                </a:solidFill>
                <a:latin typeface="Arial"/>
              </a:rPr>
              <a:t>РЕДАКТИРОВАНИЕ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9432" y="3017520"/>
            <a:ext cx="352044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99432" y="345948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5464" y="3383280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Поворот, удаление, перестановка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9432" y="402640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3950208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Дублирование и вставка листов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9432" y="4593336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55464" y="4517136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Объединение и извлечение страниц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9432" y="516026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5464" y="5084064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Надписи и закрашивание данных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572719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55464" y="565099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Отмена — до 50 шагов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251460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160">
                <a:solidFill>
                  <a:srgbClr val="14181C"/>
                </a:solidFill>
                <a:latin typeface="Arial"/>
              </a:rPr>
              <a:t>КОНВЕРТАЦИЯ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5904" y="3017520"/>
            <a:ext cx="352044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75904" y="345948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31936" y="3383280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В Word и Excel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75904" y="402640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31936" y="3950208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В JPG, PNG и HTML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4593336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31936" y="4517136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 фото и сканов — в PDF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75904" y="516026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31936" y="5084064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В обычный текст TXT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75904" y="572719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31936" y="565099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Распознавание сканов (OCR)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СКАНИРОВАНИЕ И ФАЙЛЫ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spc="160">
                <a:solidFill>
                  <a:srgbClr val="14181C"/>
                </a:solidFill>
                <a:latin typeface="Arial"/>
              </a:rPr>
              <a:t>ОТ БУМАГИ</a:t>
            </a:r>
          </a:p>
          <a:p>
            <a:pPr algn="l">
              <a:lnSpc>
                <a:spcPct val="102000"/>
              </a:lnSpc>
            </a:pPr>
            <a:r>
              <a:rPr sz="3600" b="1" spc="160">
                <a:solidFill>
                  <a:srgbClr val="14181C"/>
                </a:solidFill>
                <a:latin typeface="Arial"/>
              </a:rPr>
              <a:t>ДО ГОТОВОГО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219456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160">
                <a:solidFill>
                  <a:srgbClr val="14181C"/>
                </a:solidFill>
                <a:latin typeface="Arial"/>
              </a:rPr>
              <a:t>СКАНИРОВАНИЕ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352044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45948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383280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Сканирование прямо в программе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2640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950208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Пакетная съёмка пачки листов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93336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517136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Повтор с теми же настройками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6026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084064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Скан сразу в открытый документ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72719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65099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Улучшение читаемости скана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51460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160">
                <a:solidFill>
                  <a:srgbClr val="14181C"/>
                </a:solidFill>
                <a:latin typeface="Arial"/>
              </a:rPr>
              <a:t>РАБОТА С ФАЙЛОМ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9432" y="3017520"/>
            <a:ext cx="352044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99432" y="345948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5464" y="3383280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Сжатие — три уровня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9432" y="402640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3950208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Извлечение нужных страниц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9432" y="4593336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55464" y="4517136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Добавление чистых листов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9432" y="516026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5464" y="5084064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Печать с предпросмотром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572719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55464" y="565099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Копирование текста страницы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251460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160">
                <a:solidFill>
                  <a:srgbClr val="14181C"/>
                </a:solidFill>
                <a:latin typeface="Arial"/>
              </a:rPr>
              <a:t>СОЗДАНИЕ PDF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5904" y="3017520"/>
            <a:ext cx="352044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75904" y="345948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31936" y="3383280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 фотографий JPG и PNG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75904" y="402640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31936" y="3950208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 снимков HEIC с iPhone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4593336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31936" y="4517136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 текстовых файлов TXT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75904" y="516026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31936" y="5084064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 сканов TIFF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75904" y="572719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31936" y="565099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 нескольких PDF сразу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spc="160">
                <a:solidFill>
                  <a:srgbClr val="14181C"/>
                </a:solidFill>
                <a:latin typeface="Arial"/>
              </a:rPr>
              <a:t>ПРИВЫЧНО С ПЕРВОГО</a:t>
            </a:r>
          </a:p>
          <a:p>
            <a:pPr algn="l">
              <a:lnSpc>
                <a:spcPct val="102000"/>
              </a:lnSpc>
            </a:pPr>
            <a:r>
              <a:rPr sz="3400" b="1" spc="160">
                <a:solidFill>
                  <a:srgbClr val="14181C"/>
                </a:solidFill>
                <a:latin typeface="Arial"/>
              </a:rPr>
              <a:t>ЗАПУСКА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06040"/>
            <a:ext cx="182880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09372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3017520"/>
            <a:ext cx="35661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Полностью на русском языке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9722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621024"/>
            <a:ext cx="35661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Вкладки — как в браузере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0072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224528"/>
            <a:ext cx="35661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Обучение сотрудника — меньше часа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90423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828032"/>
            <a:ext cx="35661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Горячие клавиши как в привычных программах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307592"/>
            <a:ext cx="6035040" cy="3310128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34440"/>
            <a:ext cx="6035040" cy="326323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394960" y="1234440"/>
            <a:ext cx="6035040" cy="3264408"/>
          </a:xfrm>
          <a:prstGeom prst="rect">
            <a:avLst/>
          </a:prstGeom>
          <a:noFill/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47091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РАБОЧЕЕ ОКНО ПРОГРАММЫ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9AD4E8"/>
                </a:solidFill>
                <a:latin typeface="Arial"/>
              </a:rPr>
              <a:t>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 spc="160">
                <a:solidFill>
                  <a:srgbClr val="F7F5EF"/>
                </a:solidFill>
                <a:latin typeface="Arial"/>
              </a:rPr>
              <a:t>ДОКУМЕНТ</a:t>
            </a:r>
          </a:p>
          <a:p>
            <a:pPr algn="l">
              <a:lnSpc>
                <a:spcPct val="106000"/>
              </a:lnSpc>
            </a:pPr>
            <a:r>
              <a:rPr sz="4000" b="1" spc="160">
                <a:solidFill>
                  <a:srgbClr val="F7F5EF"/>
                </a:solidFill>
                <a:latin typeface="Arial"/>
              </a:rPr>
              <a:t>НЕ ПОКИДАЕТ ПЕРИМЕТР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2194560" cy="381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566160"/>
            <a:ext cx="3474720" cy="1920240"/>
          </a:xfrm>
          <a:prstGeom prst="rect">
            <a:avLst/>
          </a:prstGeom>
          <a:solidFill>
            <a:srgbClr val="1E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566160"/>
            <a:ext cx="50800" cy="192024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91363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7F5EF"/>
                </a:solidFill>
                <a:latin typeface="Arial"/>
              </a:rPr>
              <a:t>Локальная обработка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5262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6B3AC"/>
                </a:solidFill>
                <a:latin typeface="Arial"/>
              </a:rPr>
              <a:t>Файл открывается и обрабатывается на компьютере пользователя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53712" y="3566160"/>
            <a:ext cx="3474720" cy="1920240"/>
          </a:xfrm>
          <a:prstGeom prst="rect">
            <a:avLst/>
          </a:prstGeom>
          <a:solidFill>
            <a:srgbClr val="1E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3566160"/>
            <a:ext cx="50800" cy="192024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91363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7F5EF"/>
                </a:solidFill>
                <a:latin typeface="Arial"/>
              </a:rPr>
              <a:t>Закрашивание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5262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6B3AC"/>
                </a:solidFill>
                <a:latin typeface="Arial"/>
              </a:rPr>
              <a:t>Персональные данные и реквизиты скрываются перед передачей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3566160"/>
            <a:ext cx="3474720" cy="1920240"/>
          </a:xfrm>
          <a:prstGeom prst="rect">
            <a:avLst/>
          </a:prstGeom>
          <a:solidFill>
            <a:srgbClr val="1E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3566160"/>
            <a:ext cx="50800" cy="192024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91363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7F5EF"/>
                </a:solidFill>
                <a:latin typeface="Arial"/>
              </a:rPr>
              <a:t>Работа без интернета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5262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6B3AC"/>
                </a:solidFill>
                <a:latin typeface="Arial"/>
              </a:rPr>
              <a:t>В том числе на удалённых и подземных объектах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9AD4E8"/>
                </a:solidFill>
                <a:latin typeface="Arial"/>
              </a:rPr>
              <a:t>УПРАВЛЕНИЕ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 spc="160">
                <a:solidFill>
                  <a:srgbClr val="F7F5EF"/>
                </a:solidFill>
                <a:latin typeface="Arial"/>
              </a:rPr>
              <a:t>ПАРК РАБОЧИХ МЕСТ</a:t>
            </a:r>
          </a:p>
          <a:p>
            <a:pPr algn="l">
              <a:lnSpc>
                <a:spcPct val="106000"/>
              </a:lnSpc>
            </a:pPr>
            <a:r>
              <a:rPr sz="4000" b="1" spc="160">
                <a:solidFill>
                  <a:srgbClr val="F7F5EF"/>
                </a:solidFill>
                <a:latin typeface="Arial"/>
              </a:rPr>
              <a:t>ПОД КОНТРОЛЕМ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2194560" cy="381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566160"/>
            <a:ext cx="3474720" cy="1920240"/>
          </a:xfrm>
          <a:prstGeom prst="rect">
            <a:avLst/>
          </a:prstGeom>
          <a:solidFill>
            <a:srgbClr val="1E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566160"/>
            <a:ext cx="50800" cy="192024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91363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7F5EF"/>
                </a:solidFill>
                <a:latin typeface="Arial"/>
              </a:rPr>
              <a:t>Учёт рабочих мест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5262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6B3AC"/>
                </a:solidFill>
                <a:latin typeface="Arial"/>
              </a:rPr>
              <a:t>Видно, на каких компьютерах работает лицензия и сколько мест занято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53712" y="3566160"/>
            <a:ext cx="3474720" cy="1920240"/>
          </a:xfrm>
          <a:prstGeom prst="rect">
            <a:avLst/>
          </a:prstGeom>
          <a:solidFill>
            <a:srgbClr val="1E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3566160"/>
            <a:ext cx="50800" cy="192024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91363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7F5EF"/>
                </a:solidFill>
                <a:latin typeface="Arial"/>
              </a:rPr>
              <a:t>Обязательная версия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5262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6B3AC"/>
                </a:solidFill>
                <a:latin typeface="Arial"/>
              </a:rPr>
              <a:t>Устаревшие версии останавливаются до обновления — по решению администратора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3566160"/>
            <a:ext cx="3474720" cy="1920240"/>
          </a:xfrm>
          <a:prstGeom prst="rect">
            <a:avLst/>
          </a:prstGeom>
          <a:solidFill>
            <a:srgbClr val="1E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3566160"/>
            <a:ext cx="50800" cy="192024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91363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7F5EF"/>
                </a:solidFill>
                <a:latin typeface="Arial"/>
              </a:rPr>
              <a:t>Обновление в щелчок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5262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6B3AC"/>
                </a:solidFill>
                <a:latin typeface="Arial"/>
              </a:rPr>
              <a:t>Программа ставит его сама, файлы и настройки остаются на месте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ПОЧЕМУ 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spc="160">
                <a:solidFill>
                  <a:srgbClr val="14181C"/>
                </a:solidFill>
                <a:latin typeface="Arial"/>
              </a:rPr>
              <a:t>ШЕСТЬ ПРИЧИН ВЫБРАТЬ</a:t>
            </a:r>
          </a:p>
          <a:p>
            <a:pPr algn="l">
              <a:lnSpc>
                <a:spcPct val="102000"/>
              </a:lnSpc>
            </a:pPr>
            <a:r>
              <a:rPr sz="3400" b="1" spc="160">
                <a:solidFill>
                  <a:srgbClr val="14181C"/>
                </a:solidFill>
                <a:latin typeface="Arial"/>
              </a:rPr>
              <a:t>ПВ-СИСТЕМУ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23160"/>
            <a:ext cx="219456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926080"/>
            <a:ext cx="3520440" cy="1600200"/>
          </a:xfrm>
          <a:prstGeom prst="rect">
            <a:avLst/>
          </a:prstGeom>
          <a:noFill/>
          <a:ln w="12700">
            <a:solidFill>
              <a:srgbClr val="CF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31272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5FD9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4930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4181C"/>
                </a:solidFill>
                <a:latin typeface="Arial"/>
              </a:rPr>
              <a:t>Безопасность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895344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Обработка на рабочем месте, без передачи файлов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9432" y="2926080"/>
            <a:ext cx="3520440" cy="1600200"/>
          </a:xfrm>
          <a:prstGeom prst="rect">
            <a:avLst/>
          </a:prstGeom>
          <a:noFill/>
          <a:ln w="12700">
            <a:solidFill>
              <a:srgbClr val="CF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5464" y="31272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5FD9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34930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4181C"/>
                </a:solidFill>
                <a:latin typeface="Arial"/>
              </a:rPr>
              <a:t>Импортозамещение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3895344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Отечественное ПО без зарубежных подписок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75904" y="2926080"/>
            <a:ext cx="3520440" cy="1600200"/>
          </a:xfrm>
          <a:prstGeom prst="rect">
            <a:avLst/>
          </a:prstGeom>
          <a:noFill/>
          <a:ln w="12700">
            <a:solidFill>
              <a:srgbClr val="CF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6" y="31272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5FD9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6" y="34930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4181C"/>
                </a:solidFill>
                <a:latin typeface="Arial"/>
              </a:rPr>
              <a:t>Экономия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3895344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Дешевле зарубежных аналогов с помесячной оплатой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27448"/>
            <a:ext cx="3520440" cy="1600200"/>
          </a:xfrm>
          <a:prstGeom prst="rect">
            <a:avLst/>
          </a:prstGeom>
          <a:noFill/>
          <a:ln w="12700">
            <a:solidFill>
              <a:srgbClr val="CF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92861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5FD9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29437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4181C"/>
                </a:solidFill>
                <a:latin typeface="Arial"/>
              </a:rPr>
              <a:t>Простота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69671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Русский интерфейс, обучение меньше часа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9432" y="4727448"/>
            <a:ext cx="3520440" cy="1600200"/>
          </a:xfrm>
          <a:prstGeom prst="rect">
            <a:avLst/>
          </a:prstGeom>
          <a:noFill/>
          <a:ln w="12700">
            <a:solidFill>
              <a:srgbClr val="CF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492861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5FD9"/>
                </a:solidFill>
                <a:latin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529437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4181C"/>
                </a:solidFill>
                <a:latin typeface="Arial"/>
              </a:rPr>
              <a:t>Автономность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569671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Работает без постоянного подключения к сети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75904" y="4727448"/>
            <a:ext cx="3520440" cy="1600200"/>
          </a:xfrm>
          <a:prstGeom prst="rect">
            <a:avLst/>
          </a:prstGeom>
          <a:noFill/>
          <a:ln w="12700">
            <a:solidFill>
              <a:srgbClr val="CF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31936" y="492861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5FD9"/>
                </a:solidFill>
                <a:latin typeface="Arial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1936" y="529437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4181C"/>
                </a:solidFill>
                <a:latin typeface="Arial"/>
              </a:rPr>
              <a:t>Развитие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1936" y="569671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Обновления входят в стоимость лицензии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СТОИМОСТЬ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spc="160">
                <a:solidFill>
                  <a:srgbClr val="14181C"/>
                </a:solidFill>
                <a:latin typeface="Arial"/>
              </a:rPr>
              <a:t>ГОДОВАЯ ЛИЦЕНЗИЯ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219456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6766560" cy="493776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606040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spc="160">
                <a:solidFill>
                  <a:srgbClr val="F7F5EF"/>
                </a:solidFill>
                <a:latin typeface="Arial"/>
              </a:rPr>
              <a:t>РАБОЧИХ МЕСТ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94176" y="2606040"/>
            <a:ext cx="18470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spc="160">
                <a:solidFill>
                  <a:srgbClr val="F7F5EF"/>
                </a:solidFill>
                <a:latin typeface="Arial"/>
              </a:rPr>
              <a:t>ЦЕНА ЗА МЕСТО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7296" y="2606040"/>
            <a:ext cx="17556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spc="160">
                <a:solidFill>
                  <a:srgbClr val="F7F5EF"/>
                </a:solidFill>
                <a:latin typeface="Arial"/>
              </a:rPr>
              <a:t>СТОИМОСТЬ В ГОД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3099816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3099816"/>
            <a:ext cx="18470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12 000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7296" y="3099816"/>
            <a:ext cx="17556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4181C"/>
                </a:solidFill>
                <a:latin typeface="Arial"/>
              </a:rPr>
              <a:t>12 000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456432"/>
            <a:ext cx="6766560" cy="493776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3593592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593592"/>
            <a:ext cx="18470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9 600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7296" y="3593592"/>
            <a:ext cx="17556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4181C"/>
                </a:solidFill>
                <a:latin typeface="Arial"/>
              </a:rPr>
              <a:t>48 000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4087368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4087368"/>
            <a:ext cx="18470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8 500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7296" y="4087368"/>
            <a:ext cx="17556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4181C"/>
                </a:solidFill>
                <a:latin typeface="Arial"/>
              </a:rPr>
              <a:t>85 000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443984"/>
            <a:ext cx="6766560" cy="493776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4581144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4581144"/>
            <a:ext cx="18470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7 600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296" y="4581144"/>
            <a:ext cx="17556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4181C"/>
                </a:solidFill>
                <a:latin typeface="Arial"/>
              </a:rPr>
              <a:t>190 000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5074920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5074920"/>
            <a:ext cx="18470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6 800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7296" y="5074920"/>
            <a:ext cx="17556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4181C"/>
                </a:solidFill>
                <a:latin typeface="Arial"/>
              </a:rPr>
              <a:t>340 000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431536"/>
            <a:ext cx="6766560" cy="493776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" y="5568696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Без ограничения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4176" y="5568696"/>
            <a:ext cx="18470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7296" y="5568696"/>
            <a:ext cx="17556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4181C"/>
                </a:solidFill>
                <a:latin typeface="Arial"/>
              </a:rPr>
              <a:t>560 000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2468880"/>
            <a:ext cx="6766560" cy="3456432"/>
          </a:xfrm>
          <a:prstGeom prst="rect">
            <a:avLst/>
          </a:prstGeom>
          <a:noFill/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79" y="2468880"/>
            <a:ext cx="3383280" cy="32004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28163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spc="160">
                <a:solidFill>
                  <a:srgbClr val="FFFFFF"/>
                </a:solidFill>
                <a:latin typeface="Arial"/>
              </a:rPr>
              <a:t>В СТОИМОСТЬ ВХОДИТ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19" y="3505200"/>
            <a:ext cx="88900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22207" y="34290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Установка и настройка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3980688"/>
            <a:ext cx="88900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2207" y="3904488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Обучение персонала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19" y="4456176"/>
            <a:ext cx="88900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22207" y="4379976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Техническая поддержка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19" y="4931664"/>
            <a:ext cx="88900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22207" y="4855464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Все обновления года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5870448"/>
            <a:ext cx="3383280" cy="777240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19" y="607161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3393"/>
                </a:solidFill>
                <a:latin typeface="Arial"/>
              </a:rPr>
              <a:t>До 01.07.2026 — скидка 10 %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89788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Цены в рублях за год. Без НДС (п. 26 ч. 2 ст. 149 НК РФ). Лицензия корпоративная, срок — 1 год.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spc="160">
                <a:solidFill>
                  <a:srgbClr val="14181C"/>
                </a:solidFill>
                <a:latin typeface="Arial"/>
              </a:rPr>
              <a:t>ЦЕНА ЗА ОДНО</a:t>
            </a:r>
          </a:p>
          <a:p>
            <a:pPr algn="l">
              <a:lnSpc>
                <a:spcPct val="102000"/>
              </a:lnSpc>
            </a:pPr>
            <a:r>
              <a:rPr sz="3400" b="1" spc="160">
                <a:solidFill>
                  <a:srgbClr val="14181C"/>
                </a:solidFill>
                <a:latin typeface="Arial"/>
              </a:rPr>
              <a:t>РАБОЧЕЕ МЕСТО В ГОД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14600"/>
            <a:ext cx="219456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291840"/>
            <a:ext cx="2103120" cy="1965960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606662"/>
                </a:solidFill>
                <a:latin typeface="Arial"/>
              </a:rPr>
              <a:t>≈ 20 000 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858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4181C"/>
                </a:solidFill>
                <a:latin typeface="Arial"/>
              </a:rPr>
              <a:t>Adobe Acrobat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332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06662"/>
                </a:solidFill>
                <a:latin typeface="Arial"/>
              </a:rPr>
              <a:t>Подписка в валюте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3340989"/>
            <a:ext cx="2103120" cy="1916811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2865501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606662"/>
                </a:solidFill>
                <a:latin typeface="Arial"/>
              </a:rPr>
              <a:t>≈ 19 500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53858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4181C"/>
                </a:solidFill>
                <a:latin typeface="Arial"/>
              </a:rPr>
              <a:t>Foxit PDF Editor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57332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06662"/>
                </a:solidFill>
                <a:latin typeface="Arial"/>
              </a:rPr>
              <a:t>Лицензия через реселлера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4078224"/>
            <a:ext cx="2103120" cy="1179576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360273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1C5FD9"/>
                </a:solidFill>
                <a:latin typeface="Arial"/>
              </a:rPr>
              <a:t>12 000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53858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4181C"/>
                </a:solidFill>
                <a:latin typeface="Arial"/>
              </a:rPr>
              <a:t>ПВ-Система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57332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06662"/>
                </a:solidFill>
                <a:latin typeface="Arial"/>
              </a:rPr>
              <a:t>Одно рабочее место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33104" y="4589374"/>
            <a:ext cx="2103120" cy="668426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3104" y="411388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1C5FD9"/>
                </a:solidFill>
                <a:latin typeface="Arial"/>
              </a:rPr>
              <a:t>6 800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53858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4181C"/>
                </a:solidFill>
                <a:latin typeface="Arial"/>
              </a:rPr>
              <a:t>ПВ-Система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57332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06662"/>
                </a:solidFill>
                <a:latin typeface="Arial"/>
              </a:rPr>
              <a:t>При 50 рабочих местах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257800"/>
            <a:ext cx="10113264" cy="1905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051560"/>
            <a:ext cx="3200400" cy="169164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29844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spc="160">
                <a:solidFill>
                  <a:srgbClr val="9AD4E8"/>
                </a:solidFill>
                <a:latin typeface="Arial"/>
              </a:rPr>
              <a:t>ВЫГОДА ДО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1664208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F7F5EF"/>
                </a:solidFill>
                <a:latin typeface="Arial"/>
              </a:rPr>
              <a:t>×3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221284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6B3AC"/>
                </a:solidFill>
                <a:latin typeface="Arial"/>
              </a:rPr>
              <a:t>дешевле при 50 местах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618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Цены зарубежных продуктов ориентировочные, по открытым данным. Подписки оплачиваются в валюте.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КАК НАЧАТЬ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spc="160">
                <a:solidFill>
                  <a:srgbClr val="14181C"/>
                </a:solidFill>
                <a:latin typeface="Arial"/>
              </a:rPr>
              <a:t>ЧЕТЫРЕ ШАГА ДО</a:t>
            </a:r>
          </a:p>
          <a:p>
            <a:pPr algn="l">
              <a:lnSpc>
                <a:spcPct val="102000"/>
              </a:lnSpc>
            </a:pPr>
            <a:r>
              <a:rPr sz="3600" b="1" spc="160">
                <a:solidFill>
                  <a:srgbClr val="14181C"/>
                </a:solidFill>
                <a:latin typeface="Arial"/>
              </a:rPr>
              <a:t>РАБОЧИХ МЕСТ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06040"/>
            <a:ext cx="219456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C9C5BC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67912"/>
            <a:ext cx="242316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spc="160">
                <a:solidFill>
                  <a:srgbClr val="14181C"/>
                </a:solidFill>
                <a:latin typeface="Arial"/>
              </a:rPr>
              <a:t>ЗАЯВКА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06662"/>
                </a:solidFill>
                <a:latin typeface="Arial"/>
              </a:rPr>
              <a:t>Обсуждаем количество мест и получаете демоверсию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31546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C9C5BC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30168" y="3867912"/>
            <a:ext cx="242316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40690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spc="160">
                <a:solidFill>
                  <a:srgbClr val="14181C"/>
                </a:solidFill>
                <a:latin typeface="Arial"/>
              </a:rPr>
              <a:t>ДОГОВОР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452628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06662"/>
                </a:solidFill>
                <a:latin typeface="Arial"/>
              </a:rPr>
              <a:t>Подписываем и выставляем счёт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31546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C9C5BC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7376" y="3867912"/>
            <a:ext cx="242316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40690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spc="160">
                <a:solidFill>
                  <a:srgbClr val="14181C"/>
                </a:solidFill>
                <a:latin typeface="Arial"/>
              </a:rPr>
              <a:t>ПЕРЕДАЧА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452628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06662"/>
                </a:solidFill>
                <a:latin typeface="Arial"/>
              </a:rPr>
              <a:t>Ключ активации — 3 рабочих дня после оплаты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584" y="31546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C9C5BC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4584" y="3867912"/>
            <a:ext cx="242316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584" y="40690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spc="160">
                <a:solidFill>
                  <a:srgbClr val="14181C"/>
                </a:solidFill>
                <a:latin typeface="Arial"/>
              </a:rPr>
              <a:t>ЗАПУСК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452628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06662"/>
                </a:solidFill>
                <a:latin typeface="Arial"/>
              </a:rPr>
              <a:t>Установка, настройка и обучение сотрудников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31000"/>
            <a:ext cx="12191695" cy="1270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9AD4E8"/>
                </a:solidFill>
                <a:latin typeface="Arial"/>
              </a:rPr>
              <a:t>КОНТАКТЫ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spc="160">
                <a:solidFill>
                  <a:srgbClr val="F7F5EF"/>
                </a:solidFill>
                <a:latin typeface="Arial"/>
              </a:rPr>
              <a:t>ЗАПРОСИТЕ</a:t>
            </a:r>
          </a:p>
          <a:p>
            <a:pPr algn="l">
              <a:lnSpc>
                <a:spcPct val="105000"/>
              </a:lnSpc>
            </a:pPr>
            <a:r>
              <a:rPr sz="5200" b="1" spc="160">
                <a:solidFill>
                  <a:srgbClr val="F7F5EF"/>
                </a:solidFill>
                <a:latin typeface="Arial"/>
              </a:rPr>
              <a:t>ДЕМОВЕРСИЮ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2194560" cy="508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ТЕЛЕФОН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19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7F5EF"/>
                </a:solidFill>
                <a:latin typeface="Arial"/>
              </a:rPr>
              <a:t>+7 (905) 005-36-19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F7F5EF"/>
                </a:solidFill>
                <a:latin typeface="Arial"/>
              </a:rPr>
              <a:t>+7 (933) 044-70-17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397763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ЭЛЕКТРОННАЯ ПОЧТА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4389119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7F5EF"/>
                </a:solidFill>
                <a:latin typeface="Arial"/>
              </a:rPr>
              <a:t>pvsistema@mail.ru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4464" y="397763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САЙТ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4389119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7F5EF"/>
                </a:solidFill>
                <a:latin typeface="Arial"/>
              </a:rPr>
              <a:t>пвсистема.рф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06662"/>
                </a:solidFill>
                <a:latin typeface="Arial"/>
              </a:rPr>
              <a:t>АНО ДПО «Учебный центр ГорГазНефть» · г. Сибай, ул. Куйбышева, д. 20, офис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